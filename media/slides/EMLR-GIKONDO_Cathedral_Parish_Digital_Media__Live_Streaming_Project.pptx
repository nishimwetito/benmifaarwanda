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4" r:id="rId6"/>
    <p:sldId id="265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3754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86255"/>
            <a:ext cx="4050507" cy="1009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3295" b="1" dirty="0">
                <a:solidFill>
                  <a:srgbClr val="1A2C42"/>
                </a:solidFill>
              </a:rPr>
              <a:t>EMLR-GIKONDO
Cathedral Parish</a:t>
            </a:r>
            <a:endParaRPr lang="en-US" sz="3295" dirty="0"/>
          </a:p>
        </p:txBody>
      </p:sp>
      <p:sp>
        <p:nvSpPr>
          <p:cNvPr id="4" name="Text 1"/>
          <p:cNvSpPr/>
          <p:nvPr/>
        </p:nvSpPr>
        <p:spPr>
          <a:xfrm>
            <a:off x="5093493" y="2330625"/>
            <a:ext cx="4050507" cy="419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kern="0" spc="1" dirty="0">
                <a:solidFill>
                  <a:srgbClr val="334E68"/>
                </a:solidFill>
              </a:rPr>
              <a:t>Digital Media &amp; Live Streaming
Project Proposal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3" y="784951"/>
            <a:ext cx="2643188" cy="59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808" b="1" dirty="0">
                <a:solidFill>
                  <a:srgbClr val="1A2C42"/>
                </a:solidFill>
              </a:rPr>
              <a:t>General Objective: Professional Production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853637"/>
            <a:ext cx="2432957" cy="1541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334E68"/>
                </a:solidFill>
              </a:rPr>
              <a:t>This project aims to establish a professional live streaming and digital media platform for EMLR–</a:t>
            </a:r>
            <a:r>
              <a:rPr lang="en-US" sz="1200" dirty="0" err="1">
                <a:solidFill>
                  <a:srgbClr val="334E68"/>
                </a:solidFill>
              </a:rPr>
              <a:t>Gikondo</a:t>
            </a:r>
            <a:r>
              <a:rPr lang="en-US" sz="1200" dirty="0">
                <a:solidFill>
                  <a:srgbClr val="334E68"/>
                </a:solidFill>
              </a:rPr>
              <a:t> Cathedral Parish to expand outreach, improve service quality, support members who cannot attend physically, and build a strong foundation for long-term digital growth and engagement.</a:t>
            </a:r>
            <a:br>
              <a:rPr lang="en-US" sz="1200" dirty="0">
                <a:solidFill>
                  <a:srgbClr val="334E68"/>
                </a:solidFill>
              </a:rPr>
            </a:br>
            <a:endParaRPr lang="en-US" sz="1200" dirty="0">
              <a:solidFill>
                <a:srgbClr val="334E68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3686176" y="657226"/>
            <a:ext cx="4886325" cy="1802011"/>
          </a:xfrm>
          <a:prstGeom prst="rect">
            <a:avLst/>
          </a:prstGeom>
          <a:solidFill>
            <a:srgbClr val="FFFFFF"/>
          </a:solidFill>
          <a:ln w="9144">
            <a:solidFill>
              <a:srgbClr val="334E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57629" y="1028704"/>
            <a:ext cx="1038361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397" b="1" dirty="0">
                <a:solidFill>
                  <a:srgbClr val="D64545"/>
                </a:solidFill>
              </a:rPr>
              <a:t>The Core Goal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3857629" y="1390372"/>
            <a:ext cx="4543425" cy="946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1A2C42"/>
                </a:solidFill>
              </a:rPr>
              <a:t>The general objective of this project is to establish a fully operational live streaming and digital media system that supports the church’s activities of evangelism, discipleship, and community service through professional-quality production and distribution</a:t>
            </a:r>
            <a:r>
              <a:rPr lang="en-US" sz="2400" dirty="0"/>
              <a:t>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3342" y="2587823"/>
            <a:ext cx="3596177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334E68"/>
                </a:solidFill>
              </a:rPr>
              <a:t>Support evangelism, discipleship, and community service.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3341" y="2848570"/>
            <a:ext cx="2504468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334E68"/>
                </a:solidFill>
              </a:rPr>
              <a:t>Ensure consistent and message delivery.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3339" y="3109317"/>
            <a:ext cx="3075009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334E68"/>
                </a:solidFill>
              </a:rPr>
              <a:t>Expand the church's reach to a wider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1" y="638737"/>
            <a:ext cx="2875787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1A2C42"/>
                </a:solidFill>
              </a:rPr>
              <a:t>Main objectives of Live streaming  project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3" y="1545034"/>
            <a:ext cx="2643188" cy="414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00"/>
              </a:lnSpc>
            </a:pPr>
            <a:r>
              <a:rPr lang="en-US" sz="987" b="1" dirty="0">
                <a:solidFill>
                  <a:srgbClr val="1A2C42"/>
                </a:solidFill>
              </a:rPr>
              <a:t>Digital ministry initiative for EMLR–</a:t>
            </a:r>
            <a:r>
              <a:rPr lang="en-US" sz="987" b="1" dirty="0" err="1">
                <a:solidFill>
                  <a:srgbClr val="1A2C42"/>
                </a:solidFill>
              </a:rPr>
              <a:t>Gikondo</a:t>
            </a:r>
            <a:r>
              <a:rPr lang="en-US" sz="987" b="1" dirty="0">
                <a:solidFill>
                  <a:srgbClr val="1A2C42"/>
                </a:solidFill>
              </a:rPr>
              <a:t> Cathedral Parish.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3686175" y="600079"/>
            <a:ext cx="5770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69" dirty="0">
                <a:solidFill>
                  <a:srgbClr val="D64545"/>
                </a:solidFill>
              </a:rPr>
              <a:t>▪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3964781" y="800101"/>
            <a:ext cx="3846438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rgbClr val="1A2C42"/>
                </a:solidFill>
              </a:rPr>
              <a:t>Broadcast services and events in high quality.</a:t>
            </a:r>
          </a:p>
        </p:txBody>
      </p:sp>
      <p:sp>
        <p:nvSpPr>
          <p:cNvPr id="7" name="Text 4"/>
          <p:cNvSpPr/>
          <p:nvPr/>
        </p:nvSpPr>
        <p:spPr>
          <a:xfrm>
            <a:off x="3964781" y="1148359"/>
            <a:ext cx="3706019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dirty="0">
                <a:solidFill>
                  <a:srgbClr val="334E68"/>
                </a:solidFill>
              </a:rPr>
              <a:t>This ensures church services, conferences, and special programs are delivered clearly and professionally, enhancing viewer engagement and credibility.</a:t>
            </a:r>
          </a:p>
        </p:txBody>
      </p:sp>
      <p:sp>
        <p:nvSpPr>
          <p:cNvPr id="8" name="Text 5"/>
          <p:cNvSpPr/>
          <p:nvPr/>
        </p:nvSpPr>
        <p:spPr>
          <a:xfrm>
            <a:off x="3686175" y="1748438"/>
            <a:ext cx="5770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69" dirty="0">
                <a:solidFill>
                  <a:srgbClr val="D64545"/>
                </a:solidFill>
              </a:rPr>
              <a:t>▪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3964782" y="1948458"/>
            <a:ext cx="3507627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rgbClr val="1A2C42"/>
                </a:solidFill>
              </a:rPr>
              <a:t>Reach members beyond physical location</a:t>
            </a:r>
          </a:p>
        </p:txBody>
      </p:sp>
      <p:sp>
        <p:nvSpPr>
          <p:cNvPr id="10" name="Text 7"/>
          <p:cNvSpPr/>
          <p:nvPr/>
        </p:nvSpPr>
        <p:spPr>
          <a:xfrm>
            <a:off x="3964781" y="2296718"/>
            <a:ext cx="3706019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dirty="0"/>
              <a:t>Live streaming allows members who are traveling, sick, working, or living abroad to stay spiritually connected to the church.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86175" y="2896795"/>
            <a:ext cx="5770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69" dirty="0">
                <a:solidFill>
                  <a:srgbClr val="D64545"/>
                </a:solidFill>
              </a:rPr>
              <a:t>▪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3964782" y="3096817"/>
            <a:ext cx="2160143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rgbClr val="1A2C42"/>
                </a:solidFill>
              </a:rPr>
              <a:t>Share the Gospel globally</a:t>
            </a:r>
          </a:p>
        </p:txBody>
      </p:sp>
      <p:sp>
        <p:nvSpPr>
          <p:cNvPr id="13" name="Text 10"/>
          <p:cNvSpPr/>
          <p:nvPr/>
        </p:nvSpPr>
        <p:spPr>
          <a:xfrm>
            <a:off x="3964781" y="3445073"/>
            <a:ext cx="4199035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dirty="0"/>
              <a:t>Digital platforms enable the church to spread the message of Christ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 beyond Kigali and Rwanda to audiences worldwide.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86175" y="3873702"/>
            <a:ext cx="5770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69" dirty="0">
                <a:solidFill>
                  <a:srgbClr val="D64545"/>
                </a:solidFill>
              </a:rPr>
              <a:t>▪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3964784" y="4073724"/>
            <a:ext cx="3113032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rgbClr val="1A2C42"/>
                </a:solidFill>
              </a:rPr>
              <a:t>Ensuring Long-term Spiritual Growth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64783" y="4421981"/>
            <a:ext cx="3633448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dirty="0"/>
              <a:t>A structured digital ministry builds sustainable engagement, consistent teaching access, and stronger long-term faith development among members.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C45AC-E353-EAC6-3FBF-7B6F534F1BF1}"/>
              </a:ext>
            </a:extLst>
          </p:cNvPr>
          <p:cNvSpPr txBox="1"/>
          <p:nvPr/>
        </p:nvSpPr>
        <p:spPr>
          <a:xfrm>
            <a:off x="463793" y="2173486"/>
            <a:ext cx="2585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“Go into all the world and preach the Gospel to all creation.” (Mark 16:15)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582E92-E0A1-0737-50A4-2DB02DBA7C23}"/>
              </a:ext>
            </a:extLst>
          </p:cNvPr>
          <p:cNvSpPr txBox="1"/>
          <p:nvPr/>
        </p:nvSpPr>
        <p:spPr>
          <a:xfrm>
            <a:off x="494017" y="3183612"/>
            <a:ext cx="2585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Live streaming allows EMLR–</a:t>
            </a:r>
            <a:r>
              <a:rPr lang="en-US" sz="1200" dirty="0" err="1">
                <a:solidFill>
                  <a:schemeClr val="accent1"/>
                </a:solidFill>
              </a:rPr>
              <a:t>Gikondo</a:t>
            </a:r>
            <a:r>
              <a:rPr lang="en-US" sz="1200" dirty="0">
                <a:solidFill>
                  <a:schemeClr val="accent1"/>
                </a:solidFill>
              </a:rPr>
              <a:t> Cathedral Parish to: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dirty="0"/>
              <a:t>Preach beyond walls.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dirty="0"/>
              <a:t>Reach beyond Kigali.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dirty="0"/>
              <a:t>Impact beyond Rwanda.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3" y="784951"/>
            <a:ext cx="2643188" cy="59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808" b="1" dirty="0">
                <a:solidFill>
                  <a:srgbClr val="1A2C42"/>
                </a:solidFill>
              </a:rPr>
              <a:t>Benefits :Key Benefits of Live streaming projects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686175" y="771525"/>
            <a:ext cx="208390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3" b="1" dirty="0">
                <a:solidFill>
                  <a:srgbClr val="D64545"/>
                </a:solidFill>
              </a:rPr>
              <a:t>01</a:t>
            </a:r>
            <a:endParaRPr lang="en-US" sz="1603" dirty="0"/>
          </a:p>
        </p:txBody>
      </p:sp>
      <p:sp>
        <p:nvSpPr>
          <p:cNvPr id="6" name="Text 3"/>
          <p:cNvSpPr/>
          <p:nvPr/>
        </p:nvSpPr>
        <p:spPr>
          <a:xfrm>
            <a:off x="4090578" y="928688"/>
            <a:ext cx="1474121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400" b="1" dirty="0">
                <a:solidFill>
                  <a:srgbClr val="1A2C42"/>
                </a:solidFill>
              </a:rPr>
              <a:t>Expand evangelism</a:t>
            </a:r>
            <a:r>
              <a:rPr lang="en-US" sz="1600" dirty="0"/>
              <a:t>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90577" y="1250158"/>
            <a:ext cx="4481923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1" dirty="0">
                <a:solidFill>
                  <a:srgbClr val="334E68"/>
                </a:solidFill>
              </a:rPr>
              <a:t>Live streaming multiplies outreach by taking the Gospel beyond church walls to local, national, and global audiences in real time and on replay.</a:t>
            </a:r>
          </a:p>
        </p:txBody>
      </p:sp>
      <p:sp>
        <p:nvSpPr>
          <p:cNvPr id="8" name="Text 5"/>
          <p:cNvSpPr/>
          <p:nvPr/>
        </p:nvSpPr>
        <p:spPr>
          <a:xfrm>
            <a:off x="3686175" y="1857375"/>
            <a:ext cx="208390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3" b="1" dirty="0">
                <a:solidFill>
                  <a:srgbClr val="D64545"/>
                </a:solidFill>
              </a:rPr>
              <a:t>02</a:t>
            </a:r>
            <a:endParaRPr lang="en-US" sz="1603" dirty="0"/>
          </a:p>
        </p:txBody>
      </p:sp>
      <p:sp>
        <p:nvSpPr>
          <p:cNvPr id="9" name="Text 6"/>
          <p:cNvSpPr/>
          <p:nvPr/>
        </p:nvSpPr>
        <p:spPr>
          <a:xfrm>
            <a:off x="4090581" y="2014538"/>
            <a:ext cx="2414700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400" b="1" dirty="0">
                <a:solidFill>
                  <a:srgbClr val="1A2C42"/>
                </a:solidFill>
              </a:rPr>
              <a:t>Strengthen member connection</a:t>
            </a:r>
            <a:r>
              <a:rPr lang="en-US" sz="1600" dirty="0"/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90577" y="2336007"/>
            <a:ext cx="4481923" cy="309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Online access keeps members spiritually engaged and informed even when distance, illness, or work prevents physical attendance.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86175" y="2943225"/>
            <a:ext cx="208390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3" b="1" dirty="0">
                <a:solidFill>
                  <a:srgbClr val="D64545"/>
                </a:solidFill>
              </a:rPr>
              <a:t>03</a:t>
            </a:r>
            <a:endParaRPr lang="en-US" sz="1603" dirty="0"/>
          </a:p>
        </p:txBody>
      </p:sp>
      <p:sp>
        <p:nvSpPr>
          <p:cNvPr id="12" name="Text 9"/>
          <p:cNvSpPr/>
          <p:nvPr/>
        </p:nvSpPr>
        <p:spPr>
          <a:xfrm>
            <a:off x="4090581" y="3100388"/>
            <a:ext cx="1237070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400" b="1" dirty="0">
                <a:solidFill>
                  <a:srgbClr val="1A2C42"/>
                </a:solidFill>
              </a:rPr>
              <a:t>Empower youth</a:t>
            </a:r>
            <a:r>
              <a:rPr lang="en-US" sz="1600" dirty="0"/>
              <a:t>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90577" y="3421857"/>
            <a:ext cx="4481923" cy="309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The project creates opportunities for young people to serve, develop technical skills, and actively participate in modern ministry.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86175" y="4029075"/>
            <a:ext cx="208390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3" b="1" dirty="0">
                <a:solidFill>
                  <a:srgbClr val="D64545"/>
                </a:solidFill>
              </a:rPr>
              <a:t>04</a:t>
            </a:r>
            <a:endParaRPr lang="en-US" sz="1603" dirty="0"/>
          </a:p>
        </p:txBody>
      </p:sp>
      <p:sp>
        <p:nvSpPr>
          <p:cNvPr id="15" name="Text 12"/>
          <p:cNvSpPr/>
          <p:nvPr/>
        </p:nvSpPr>
        <p:spPr>
          <a:xfrm>
            <a:off x="4090581" y="4186238"/>
            <a:ext cx="2179764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400" b="1" dirty="0">
                <a:solidFill>
                  <a:srgbClr val="1A2C42"/>
                </a:solidFill>
              </a:rPr>
              <a:t>Create income opportunities</a:t>
            </a:r>
            <a:r>
              <a:rPr lang="en-US" sz="1600" dirty="0"/>
              <a:t>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090577" y="4507707"/>
            <a:ext cx="4481923" cy="309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Digital platforms open pathways for online giving, monetization, event broadcasting services, and partnership sponsorships.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6ED5AC-7465-11C3-B171-5E8AF6E44447}"/>
              </a:ext>
            </a:extLst>
          </p:cNvPr>
          <p:cNvSpPr txBox="1"/>
          <p:nvPr/>
        </p:nvSpPr>
        <p:spPr>
          <a:xfrm>
            <a:off x="477161" y="1667530"/>
            <a:ext cx="2543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Live streaming enables the church to share the Gospel beyond physical walls, reaching people locally and worldwide, including those unable to attend in person, while fulfilling Christ’s command in </a:t>
            </a:r>
            <a:r>
              <a:rPr lang="en-US" sz="1200" b="1" dirty="0"/>
              <a:t>Mark 16:15</a:t>
            </a:r>
            <a:r>
              <a:rPr lang="en-US" sz="1200" dirty="0"/>
              <a:t>, </a:t>
            </a:r>
            <a:r>
              <a:rPr lang="en-US" sz="1200" b="1" dirty="0"/>
              <a:t>Matthew 28:19–20</a:t>
            </a:r>
            <a:r>
              <a:rPr lang="en-US" sz="1200" dirty="0"/>
              <a:t>, and </a:t>
            </a:r>
            <a:r>
              <a:rPr lang="en-US" sz="1200" b="1" dirty="0"/>
              <a:t>Acts 1:8</a:t>
            </a:r>
            <a:r>
              <a:rPr lang="en-US" sz="1200" dirty="0"/>
              <a:t> to preach to all nations and be witnesses to the ends of the earth.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ED63A0-08E5-CC82-8E13-B9513AD0BD7E}"/>
              </a:ext>
            </a:extLst>
          </p:cNvPr>
          <p:cNvSpPr/>
          <p:nvPr/>
        </p:nvSpPr>
        <p:spPr>
          <a:xfrm>
            <a:off x="310246" y="411027"/>
            <a:ext cx="2643188" cy="59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808" b="1" dirty="0">
                <a:solidFill>
                  <a:srgbClr val="1A2C42"/>
                </a:solidFill>
              </a:rPr>
              <a:t>Long-Term Sustainability &amp; Technical considerations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DB03F1-3D2D-1CBF-2760-D07DA88BA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667200"/>
              </p:ext>
            </p:extLst>
          </p:nvPr>
        </p:nvGraphicFramePr>
        <p:xfrm>
          <a:off x="3526971" y="938893"/>
          <a:ext cx="5306787" cy="345014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77824">
                  <a:extLst>
                    <a:ext uri="{9D8B030D-6E8A-4147-A177-3AD203B41FA5}">
                      <a16:colId xmlns:a16="http://schemas.microsoft.com/office/drawing/2014/main" val="1624483381"/>
                    </a:ext>
                  </a:extLst>
                </a:gridCol>
                <a:gridCol w="2290375">
                  <a:extLst>
                    <a:ext uri="{9D8B030D-6E8A-4147-A177-3AD203B41FA5}">
                      <a16:colId xmlns:a16="http://schemas.microsoft.com/office/drawing/2014/main" val="2172255375"/>
                    </a:ext>
                  </a:extLst>
                </a:gridCol>
                <a:gridCol w="785915">
                  <a:extLst>
                    <a:ext uri="{9D8B030D-6E8A-4147-A177-3AD203B41FA5}">
                      <a16:colId xmlns:a16="http://schemas.microsoft.com/office/drawing/2014/main" val="4261553384"/>
                    </a:ext>
                  </a:extLst>
                </a:gridCol>
                <a:gridCol w="1152673">
                  <a:extLst>
                    <a:ext uri="{9D8B030D-6E8A-4147-A177-3AD203B41FA5}">
                      <a16:colId xmlns:a16="http://schemas.microsoft.com/office/drawing/2014/main" val="3252722723"/>
                    </a:ext>
                  </a:extLst>
                </a:gridCol>
              </a:tblGrid>
              <a:tr h="26973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</a:rPr>
                        <a:t>Item Name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</a:rPr>
                        <a:t>Specification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</a:rPr>
                        <a:t>Quantity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</a:rPr>
                        <a:t>Price (Rwf)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839284621"/>
                  </a:ext>
                </a:extLst>
              </a:tr>
              <a:tr h="26973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DSLR Camera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Canon R with</a:t>
                      </a:r>
                      <a:endParaRPr lang="en-US" sz="1600" b="1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2,500,000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1208353908"/>
                  </a:ext>
                </a:extLst>
              </a:tr>
              <a:tr h="228347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Lens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Wide lens 24-105mm</a:t>
                      </a:r>
                      <a:endParaRPr lang="en-US" sz="1600" b="1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800,000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1546366662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Streaming Camera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Black magic 6k Pro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3,000,000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3534824997"/>
                  </a:ext>
                </a:extLst>
              </a:tr>
              <a:tr h="70490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Camera lens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Sigma 28-105mm f/2.8 DG DN Art (L-Mount)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800,000</a:t>
                      </a:r>
                      <a:endParaRPr lang="en-US" sz="2000" dirty="0">
                        <a:effectLst/>
                      </a:endParaRPr>
                    </a:p>
                    <a:p>
                      <a:pPr fontAlgn="t">
                        <a:buNone/>
                      </a:pPr>
                      <a:br>
                        <a:rPr lang="en-US" sz="1600" dirty="0">
                          <a:effectLst/>
                        </a:rPr>
                      </a:b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2342853682"/>
                  </a:ext>
                </a:extLst>
              </a:tr>
              <a:tr h="26973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Tripod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Live streaming camera tripod</a:t>
                      </a:r>
                      <a:endParaRPr lang="en-US" sz="1600" b="1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2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300,000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2181116629"/>
                  </a:ext>
                </a:extLst>
              </a:tr>
              <a:tr h="228347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Lightings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Zsyb light </a:t>
                      </a:r>
                      <a:endParaRPr lang="en-US" sz="1600" b="1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2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800,000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2951263486"/>
                  </a:ext>
                </a:extLst>
              </a:tr>
              <a:tr h="52202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Video capture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60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2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80,000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1238911916"/>
                  </a:ext>
                </a:extLst>
              </a:tr>
              <a:tr h="26973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HDMI Splitter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4 ports</a:t>
                      </a:r>
                      <a:endParaRPr lang="en-US" sz="1600" b="1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50,000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3354087421"/>
                  </a:ext>
                </a:extLst>
              </a:tr>
              <a:tr h="26973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HDMI cables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30 meters for camera</a:t>
                      </a:r>
                      <a:endParaRPr lang="en-US" sz="1600" b="1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2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100,000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3121273016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4C7C302D-931B-18CD-0FE2-58BCB1AA3BEA}"/>
              </a:ext>
            </a:extLst>
          </p:cNvPr>
          <p:cNvSpPr/>
          <p:nvPr/>
        </p:nvSpPr>
        <p:spPr>
          <a:xfrm>
            <a:off x="3975004" y="128320"/>
            <a:ext cx="4431127" cy="59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808" b="1" dirty="0">
                <a:solidFill>
                  <a:srgbClr val="1A2C42"/>
                </a:solidFill>
              </a:rPr>
              <a:t>Estimated Budget for Live Streaming Equipment – EMLR </a:t>
            </a:r>
            <a:r>
              <a:rPr lang="en-US" sz="1808" b="1" dirty="0" err="1">
                <a:solidFill>
                  <a:srgbClr val="1A2C42"/>
                </a:solidFill>
              </a:rPr>
              <a:t>Gikondo</a:t>
            </a:r>
            <a:r>
              <a:rPr lang="en-US" sz="1808" b="1" dirty="0">
                <a:solidFill>
                  <a:srgbClr val="1A2C42"/>
                </a:solidFill>
              </a:rPr>
              <a:t> Cathedral Parish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5DEAF9-9918-B2CD-0C3A-746711D8C96A}"/>
              </a:ext>
            </a:extLst>
          </p:cNvPr>
          <p:cNvSpPr txBox="1"/>
          <p:nvPr/>
        </p:nvSpPr>
        <p:spPr>
          <a:xfrm>
            <a:off x="310242" y="1371358"/>
            <a:ext cx="280760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rgbClr val="334E68"/>
                </a:solidFill>
              </a:rPr>
              <a:t>The selected equipment ensures professional-quality video and audio production.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solidFill>
                <a:srgbClr val="334E68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rgbClr val="334E68"/>
                </a:solidFill>
              </a:rPr>
              <a:t>The system is scalable and allows future expansion (additional cameras or streaming upgrades).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solidFill>
                <a:srgbClr val="334E68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rgbClr val="334E68"/>
                </a:solidFill>
              </a:rPr>
              <a:t>Proper installation and training will maximize performance and durability.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solidFill>
                <a:srgbClr val="334E68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rgbClr val="334E68"/>
                </a:solidFill>
              </a:rPr>
              <a:t>This investment supports long-term digital evangelism and church growth.</a:t>
            </a:r>
          </a:p>
          <a:p>
            <a:pPr indent="-1714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High-quality production enhances viewer trust, engagement, and retention during online services and events.</a:t>
            </a:r>
            <a:endParaRPr lang="en-US" altLang="en-US" sz="1200" dirty="0">
              <a:solidFill>
                <a:srgbClr val="334E68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1610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4CFFD-E186-313F-FB52-8ED01201E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915970-F5AC-E838-C505-89598ECA2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157791"/>
              </p:ext>
            </p:extLst>
          </p:nvPr>
        </p:nvGraphicFramePr>
        <p:xfrm>
          <a:off x="3556001" y="849678"/>
          <a:ext cx="5152572" cy="408860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46503">
                  <a:extLst>
                    <a:ext uri="{9D8B030D-6E8A-4147-A177-3AD203B41FA5}">
                      <a16:colId xmlns:a16="http://schemas.microsoft.com/office/drawing/2014/main" val="1624483381"/>
                    </a:ext>
                  </a:extLst>
                </a:gridCol>
                <a:gridCol w="2223817">
                  <a:extLst>
                    <a:ext uri="{9D8B030D-6E8A-4147-A177-3AD203B41FA5}">
                      <a16:colId xmlns:a16="http://schemas.microsoft.com/office/drawing/2014/main" val="2172255375"/>
                    </a:ext>
                  </a:extLst>
                </a:gridCol>
                <a:gridCol w="763076">
                  <a:extLst>
                    <a:ext uri="{9D8B030D-6E8A-4147-A177-3AD203B41FA5}">
                      <a16:colId xmlns:a16="http://schemas.microsoft.com/office/drawing/2014/main" val="4261553384"/>
                    </a:ext>
                  </a:extLst>
                </a:gridCol>
                <a:gridCol w="1119176">
                  <a:extLst>
                    <a:ext uri="{9D8B030D-6E8A-4147-A177-3AD203B41FA5}">
                      <a16:colId xmlns:a16="http://schemas.microsoft.com/office/drawing/2014/main" val="3252722723"/>
                    </a:ext>
                  </a:extLst>
                </a:gridCol>
              </a:tblGrid>
              <a:tr h="53891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HDMI cables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50 meters for Projection Screens</a:t>
                      </a:r>
                      <a:endParaRPr lang="en-US" sz="1600" b="1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6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6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140,000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1257888799"/>
                  </a:ext>
                </a:extLst>
              </a:tr>
              <a:tr h="22425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Screen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Projection screen</a:t>
                      </a:r>
                      <a:endParaRPr lang="en-US" sz="1600" b="1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2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1,100,000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3321884588"/>
                  </a:ext>
                </a:extLst>
              </a:tr>
              <a:tr h="53891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Soundcard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Behringer</a:t>
                      </a:r>
                      <a:endParaRPr lang="en-US" sz="1600" b="1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60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300,000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40150502"/>
                  </a:ext>
                </a:extLst>
              </a:tr>
              <a:tr h="41304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Computer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Laptop i7, 1TB SSD, 32GB RAM, NVidia Graphic card</a:t>
                      </a:r>
                      <a:endParaRPr lang="en-US" sz="1600" b="1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1,000,000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2918524648"/>
                  </a:ext>
                </a:extLst>
              </a:tr>
              <a:tr h="22425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Router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4G internet router</a:t>
                      </a:r>
                      <a:endParaRPr lang="en-US" sz="1600" b="1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50,000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875502903"/>
                  </a:ext>
                </a:extLst>
              </a:tr>
              <a:tr h="53891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Headphones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600" dirty="0">
                          <a:effectLst/>
                        </a:rPr>
                      </a:b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80,000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4122857224"/>
                  </a:ext>
                </a:extLst>
              </a:tr>
              <a:tr h="22425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Field vest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Dressing coats </a:t>
                      </a:r>
                      <a:endParaRPr lang="en-US" sz="1600" b="1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6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120,000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1003388859"/>
                  </a:ext>
                </a:extLst>
              </a:tr>
              <a:tr h="53891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Screen wall mount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60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2</a:t>
                      </a: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600" dirty="0">
                          <a:effectLst/>
                        </a:rPr>
                      </a:b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1528959414"/>
                  </a:ext>
                </a:extLst>
              </a:tr>
              <a:tr h="84714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u="none" strike="noStrike" dirty="0">
                          <a:solidFill>
                            <a:srgbClr val="333333"/>
                          </a:solidFill>
                          <a:effectLst/>
                        </a:rPr>
                        <a:t>Total</a:t>
                      </a:r>
                      <a:endParaRPr lang="en-US" sz="1600" dirty="0">
                        <a:effectLst/>
                      </a:endParaRPr>
                    </a:p>
                  </a:txBody>
                  <a:tcPr marL="34340" marR="34340" marT="17171" marB="17171"/>
                </a:tc>
                <a:tc gridSpan="2"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60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34340" marR="34340" marT="17171" marB="1717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600" dirty="0">
                          <a:effectLst/>
                        </a:rPr>
                      </a:br>
                      <a:r>
                        <a:rPr lang="en-US" sz="1800" dirty="0">
                          <a:solidFill>
                            <a:schemeClr val="accent1"/>
                          </a:solidFill>
                          <a:effectLst/>
                        </a:rPr>
                        <a:t>11,220,000</a:t>
                      </a:r>
                      <a:endParaRPr lang="en-US" sz="16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4340" marR="34340" marT="17171" marB="17171"/>
                </a:tc>
                <a:extLst>
                  <a:ext uri="{0D108BD9-81ED-4DB2-BD59-A6C34878D82A}">
                    <a16:rowId xmlns:a16="http://schemas.microsoft.com/office/drawing/2014/main" val="1387799794"/>
                  </a:ext>
                </a:extLst>
              </a:tr>
            </a:tbl>
          </a:graphicData>
        </a:graphic>
      </p:graphicFrame>
      <p:sp>
        <p:nvSpPr>
          <p:cNvPr id="4" name="Shape 2">
            <a:extLst>
              <a:ext uri="{FF2B5EF4-FFF2-40B4-BE49-F238E27FC236}">
                <a16:creationId xmlns:a16="http://schemas.microsoft.com/office/drawing/2014/main" id="{1A66BCAD-D63F-A9CB-6045-84A6703009D5}"/>
              </a:ext>
            </a:extLst>
          </p:cNvPr>
          <p:cNvSpPr/>
          <p:nvPr/>
        </p:nvSpPr>
        <p:spPr>
          <a:xfrm>
            <a:off x="238805" y="3805570"/>
            <a:ext cx="2786063" cy="926903"/>
          </a:xfrm>
          <a:prstGeom prst="rect">
            <a:avLst/>
          </a:prstGeom>
          <a:solidFill>
            <a:srgbClr val="FFFFFF"/>
          </a:solidFill>
          <a:ln w="9144">
            <a:solidFill>
              <a:srgbClr val="1A2C42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D7BE92-F00B-B93E-D1D1-B6BE72637ED3}"/>
              </a:ext>
            </a:extLst>
          </p:cNvPr>
          <p:cNvSpPr/>
          <p:nvPr/>
        </p:nvSpPr>
        <p:spPr>
          <a:xfrm>
            <a:off x="719246" y="4202580"/>
            <a:ext cx="1825180" cy="345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256" dirty="0">
                <a:solidFill>
                  <a:srgbClr val="1A2C42"/>
                </a:solidFill>
              </a:rPr>
              <a:t>11,220,000 Rwf</a:t>
            </a:r>
            <a:endParaRPr lang="en-US" sz="2256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690413C-C661-F7E8-176E-1413E94E5FA7}"/>
              </a:ext>
            </a:extLst>
          </p:cNvPr>
          <p:cNvSpPr/>
          <p:nvPr/>
        </p:nvSpPr>
        <p:spPr>
          <a:xfrm>
            <a:off x="1100137" y="4002559"/>
            <a:ext cx="806759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885" b="1" kern="0" spc="1" dirty="0">
                <a:solidFill>
                  <a:srgbClr val="D64545"/>
                </a:solidFill>
              </a:rPr>
              <a:t>Total Investment</a:t>
            </a:r>
            <a:endParaRPr lang="en-US" sz="885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631D97E3-5642-0C03-54C3-3B6D9C3CF5BA}"/>
              </a:ext>
            </a:extLst>
          </p:cNvPr>
          <p:cNvSpPr/>
          <p:nvPr/>
        </p:nvSpPr>
        <p:spPr>
          <a:xfrm>
            <a:off x="3975004" y="128320"/>
            <a:ext cx="4431127" cy="59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808" b="1" dirty="0">
                <a:solidFill>
                  <a:srgbClr val="1A2C42"/>
                </a:solidFill>
              </a:rPr>
              <a:t>Estimated Budget for Live Streaming Equipment – EMLR </a:t>
            </a:r>
            <a:r>
              <a:rPr lang="en-US" sz="1808" b="1" dirty="0" err="1">
                <a:solidFill>
                  <a:srgbClr val="1A2C42"/>
                </a:solidFill>
              </a:rPr>
              <a:t>Gikondo</a:t>
            </a:r>
            <a:r>
              <a:rPr lang="en-US" sz="1808" b="1" dirty="0">
                <a:solidFill>
                  <a:srgbClr val="1A2C42"/>
                </a:solidFill>
              </a:rPr>
              <a:t> Cathedral Parish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191CAAB5-52BA-B653-1EE8-4E796CFE1EA2}"/>
              </a:ext>
            </a:extLst>
          </p:cNvPr>
          <p:cNvSpPr/>
          <p:nvPr/>
        </p:nvSpPr>
        <p:spPr>
          <a:xfrm>
            <a:off x="381680" y="161004"/>
            <a:ext cx="2643188" cy="59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808" b="1" dirty="0">
                <a:solidFill>
                  <a:srgbClr val="1A2C42"/>
                </a:solidFill>
              </a:rPr>
              <a:t>Long-Term Sustainability &amp; Technical considerations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B8DF5-4534-0935-53E7-C902CD798C6E}"/>
              </a:ext>
            </a:extLst>
          </p:cNvPr>
          <p:cNvSpPr txBox="1"/>
          <p:nvPr/>
        </p:nvSpPr>
        <p:spPr>
          <a:xfrm>
            <a:off x="299472" y="1039587"/>
            <a:ext cx="280760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714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The project creates opportunities for training and developing an internal media team, reducing dependency on external service providers.</a:t>
            </a:r>
            <a:endParaRPr lang="en-US" altLang="en-US" sz="1200" dirty="0">
              <a:solidFill>
                <a:srgbClr val="334E68"/>
              </a:solidFill>
            </a:endParaRPr>
          </a:p>
          <a:p>
            <a:pPr indent="-1714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dirty="0">
                <a:solidFill>
                  <a:srgbClr val="334E68"/>
                </a:solidFill>
              </a:rPr>
              <a:t>Investing in durable, professional-grade equipment reduces long-term maintenance and replacement costs.</a:t>
            </a:r>
            <a:endParaRPr lang="en-US" altLang="en-US" sz="1200" dirty="0">
              <a:solidFill>
                <a:srgbClr val="334E68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rgbClr val="334E68"/>
                </a:solidFill>
              </a:rPr>
              <a:t>Proper installation and training will maximize performance and durability.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solidFill>
                <a:srgbClr val="334E68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rgbClr val="334E68"/>
                </a:solidFill>
              </a:rPr>
              <a:t>This investment supports long-term digital evangelism and church growth.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0560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6" y="1993974"/>
            <a:ext cx="3979069" cy="75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2436" b="1" dirty="0">
                <a:solidFill>
                  <a:srgbClr val="1A2C42"/>
                </a:solidFill>
              </a:rPr>
              <a:t>Investing in the Future of Free Methodist Church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6" y="2891182"/>
            <a:ext cx="3979069" cy="189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51" dirty="0">
                <a:solidFill>
                  <a:srgbClr val="334E68"/>
                </a:solidFill>
              </a:rPr>
              <a:t>A strategic commitment to digital excellence and spiritual outreach.</a:t>
            </a:r>
            <a:endParaRPr lang="en-US" sz="1051" dirty="0"/>
          </a:p>
        </p:txBody>
      </p:sp>
      <p:sp>
        <p:nvSpPr>
          <p:cNvPr id="5" name="Text 2"/>
          <p:cNvSpPr/>
          <p:nvPr/>
        </p:nvSpPr>
        <p:spPr>
          <a:xfrm>
            <a:off x="4736305" y="1290735"/>
            <a:ext cx="5770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69" dirty="0">
                <a:solidFill>
                  <a:srgbClr val="D64545"/>
                </a:solidFill>
              </a:rPr>
              <a:t>▪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993485" y="1490756"/>
            <a:ext cx="1075615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2C42"/>
                </a:solidFill>
              </a:rPr>
              <a:t>Strategic Growth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993485" y="1767577"/>
            <a:ext cx="3721895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35" dirty="0">
                <a:solidFill>
                  <a:srgbClr val="334E68"/>
                </a:solidFill>
              </a:rPr>
              <a:t>Expanding the church's capacity to communicate and reach broader audiences.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4736305" y="2187610"/>
            <a:ext cx="5770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69" dirty="0">
                <a:solidFill>
                  <a:srgbClr val="D64545"/>
                </a:solidFill>
              </a:rPr>
              <a:t>▪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993484" y="2387632"/>
            <a:ext cx="1003480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2C42"/>
                </a:solidFill>
              </a:rPr>
              <a:t>Spiritual Impact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993485" y="2664451"/>
            <a:ext cx="3721895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35" dirty="0">
                <a:solidFill>
                  <a:srgbClr val="334E68"/>
                </a:solidFill>
              </a:rPr>
              <a:t>Integrating digital tools to foster deeper spiritual growth among members.</a:t>
            </a:r>
            <a:endParaRPr lang="en-US" sz="835" dirty="0"/>
          </a:p>
        </p:txBody>
      </p:sp>
      <p:sp>
        <p:nvSpPr>
          <p:cNvPr id="11" name="Text 8"/>
          <p:cNvSpPr/>
          <p:nvPr/>
        </p:nvSpPr>
        <p:spPr>
          <a:xfrm>
            <a:off x="4736305" y="3084486"/>
            <a:ext cx="57708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69" dirty="0">
                <a:solidFill>
                  <a:srgbClr val="D64545"/>
                </a:solidFill>
              </a:rPr>
              <a:t>▪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4993485" y="3284506"/>
            <a:ext cx="854401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2C42"/>
                </a:solidFill>
              </a:rPr>
              <a:t>Sustainability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993485" y="3561327"/>
            <a:ext cx="3721895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35" dirty="0">
                <a:solidFill>
                  <a:srgbClr val="334E68"/>
                </a:solidFill>
              </a:rPr>
              <a:t>Ensuring the church remains relevant and impactful in the modern digital era.</a:t>
            </a:r>
            <a:endParaRPr lang="en-US" sz="8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764</TotalTime>
  <Words>814</Words>
  <Application>Microsoft Office PowerPoint</Application>
  <PresentationFormat>On-screen Show (16:9)</PresentationFormat>
  <Paragraphs>154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TITO</cp:lastModifiedBy>
  <cp:revision>4</cp:revision>
  <dcterms:created xsi:type="dcterms:W3CDTF">2026-02-25T09:53:19Z</dcterms:created>
  <dcterms:modified xsi:type="dcterms:W3CDTF">2026-02-27T17:31:37Z</dcterms:modified>
</cp:coreProperties>
</file>